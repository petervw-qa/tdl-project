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6" r:id="rId3"/>
    <p:sldId id="257" r:id="rId4"/>
    <p:sldId id="258" r:id="rId5"/>
    <p:sldId id="270" r:id="rId6"/>
    <p:sldId id="259" r:id="rId7"/>
    <p:sldId id="260" r:id="rId8"/>
    <p:sldId id="268" r:id="rId9"/>
    <p:sldId id="272" r:id="rId10"/>
    <p:sldId id="269" r:id="rId11"/>
    <p:sldId id="261" r:id="rId12"/>
    <p:sldId id="273" r:id="rId13"/>
    <p:sldId id="267" r:id="rId14"/>
    <p:sldId id="263" r:id="rId15"/>
    <p:sldId id="264" r:id="rId16"/>
    <p:sldId id="265"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5" autoAdjust="0"/>
    <p:restoredTop sz="94660"/>
  </p:normalViewPr>
  <p:slideViewPr>
    <p:cSldViewPr snapToGrid="0">
      <p:cViewPr varScale="1">
        <p:scale>
          <a:sx n="70" d="100"/>
          <a:sy n="70" d="100"/>
        </p:scale>
        <p:origin x="61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2/21/2021</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2/21/2021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2/21/2021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2/21/2021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2/21/2021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2/21/2021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2/21/2021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2/21/2021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2/21/2021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2/21/2021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2/21/2021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2/21/2021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2/21/2021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2/21/2021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2/21/2021</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2/21/2021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2/21/2021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2/21/2021</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pvaughan-williams.atlassian.net/secure/RapidBoard.jspa?rapidView=6&amp;projectKey=TDLIST" TargetMode="Externa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84E9C-5150-4E56-99A9-A1D05B5F7957}"/>
              </a:ext>
            </a:extLst>
          </p:cNvPr>
          <p:cNvSpPr>
            <a:spLocks noGrp="1"/>
          </p:cNvSpPr>
          <p:nvPr>
            <p:ph type="ctrTitle"/>
          </p:nvPr>
        </p:nvSpPr>
        <p:spPr/>
        <p:txBody>
          <a:bodyPr/>
          <a:lstStyle/>
          <a:p>
            <a:r>
              <a:rPr lang="en-US" dirty="0"/>
              <a:t>To Do List Application </a:t>
            </a:r>
            <a:endParaRPr lang="en-GB" dirty="0"/>
          </a:p>
        </p:txBody>
      </p:sp>
      <p:sp>
        <p:nvSpPr>
          <p:cNvPr id="3" name="Subtitle 2">
            <a:extLst>
              <a:ext uri="{FF2B5EF4-FFF2-40B4-BE49-F238E27FC236}">
                <a16:creationId xmlns:a16="http://schemas.microsoft.com/office/drawing/2014/main" id="{809E50DA-AFA3-4EA6-AA61-490BD3050918}"/>
              </a:ext>
            </a:extLst>
          </p:cNvPr>
          <p:cNvSpPr>
            <a:spLocks noGrp="1"/>
          </p:cNvSpPr>
          <p:nvPr>
            <p:ph type="subTitle" idx="1"/>
          </p:nvPr>
        </p:nvSpPr>
        <p:spPr/>
        <p:txBody>
          <a:bodyPr/>
          <a:lstStyle/>
          <a:p>
            <a:r>
              <a:rPr lang="en-US" dirty="0"/>
              <a:t>By Peter Vaughan-Williams</a:t>
            </a:r>
            <a:endParaRPr lang="en-GB" dirty="0"/>
          </a:p>
        </p:txBody>
      </p:sp>
    </p:spTree>
    <p:extLst>
      <p:ext uri="{BB962C8B-B14F-4D97-AF65-F5344CB8AC3E}">
        <p14:creationId xmlns:p14="http://schemas.microsoft.com/office/powerpoint/2010/main" val="3027334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63795-3180-4A45-B1D5-735C207EFB29}"/>
              </a:ext>
            </a:extLst>
          </p:cNvPr>
          <p:cNvSpPr>
            <a:spLocks noGrp="1"/>
          </p:cNvSpPr>
          <p:nvPr>
            <p:ph type="title"/>
          </p:nvPr>
        </p:nvSpPr>
        <p:spPr/>
        <p:txBody>
          <a:bodyPr/>
          <a:lstStyle/>
          <a:p>
            <a:r>
              <a:rPr lang="en-US" dirty="0"/>
              <a:t>Introduction</a:t>
            </a:r>
            <a:endParaRPr lang="en-GB" dirty="0"/>
          </a:p>
        </p:txBody>
      </p:sp>
      <p:sp>
        <p:nvSpPr>
          <p:cNvPr id="3" name="Content Placeholder 2">
            <a:extLst>
              <a:ext uri="{FF2B5EF4-FFF2-40B4-BE49-F238E27FC236}">
                <a16:creationId xmlns:a16="http://schemas.microsoft.com/office/drawing/2014/main" id="{C352414A-8118-45D3-A827-8FF980094149}"/>
              </a:ext>
            </a:extLst>
          </p:cNvPr>
          <p:cNvSpPr>
            <a:spLocks noGrp="1"/>
          </p:cNvSpPr>
          <p:nvPr>
            <p:ph idx="1"/>
          </p:nvPr>
        </p:nvSpPr>
        <p:spPr>
          <a:xfrm>
            <a:off x="961292" y="2414954"/>
            <a:ext cx="10503877" cy="4056184"/>
          </a:xfrm>
        </p:spPr>
        <p:txBody>
          <a:bodyPr>
            <a:normAutofit/>
          </a:bodyPr>
          <a:lstStyle/>
          <a:p>
            <a:r>
              <a:rPr lang="en-US" dirty="0"/>
              <a:t>Who am I?</a:t>
            </a:r>
          </a:p>
          <a:p>
            <a:pPr marL="0" indent="0">
              <a:buNone/>
            </a:pPr>
            <a:r>
              <a:rPr lang="en-US" dirty="0"/>
              <a:t>My name is Peter Vaughan-Williams; a QA SDET Trainee learning Java, HTML, CSS and JavaScript for the first time making this my first ever full stack project! The technologies and concepts used in this project were initially hard to grasp but with time and dedication, I’ve come to understand it more and become more familiar with all the technologies used.</a:t>
            </a:r>
          </a:p>
          <a:p>
            <a:pPr marL="0" indent="0">
              <a:buNone/>
            </a:pPr>
            <a:r>
              <a:rPr lang="en-US" dirty="0"/>
              <a:t>How did I approach the specification?</a:t>
            </a:r>
          </a:p>
          <a:p>
            <a:pPr marL="0" indent="0">
              <a:buNone/>
            </a:pPr>
            <a:r>
              <a:rPr lang="en-US" dirty="0"/>
              <a:t>Initially, I ran through the specification to understand what was expected of me and from this project, to understand the deadline and what technologies I would need to incorporate throughout this project. The main planning I had to make was with regards to the backend interacting with the front end of the project, making sure that all the java was set up and written correctly, similarly with all my fetch methods in my </a:t>
            </a:r>
            <a:r>
              <a:rPr lang="en-US" dirty="0" err="1"/>
              <a:t>javascript</a:t>
            </a:r>
            <a:r>
              <a:rPr lang="en-US" dirty="0"/>
              <a:t> ensuring that the CRUD functionality for both entities would actually work.</a:t>
            </a:r>
          </a:p>
          <a:p>
            <a:endParaRPr lang="en-GB" dirty="0"/>
          </a:p>
        </p:txBody>
      </p:sp>
    </p:spTree>
    <p:extLst>
      <p:ext uri="{BB962C8B-B14F-4D97-AF65-F5344CB8AC3E}">
        <p14:creationId xmlns:p14="http://schemas.microsoft.com/office/powerpoint/2010/main" val="3026374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ECF3F-B9B9-489A-BAC9-72191481115D}"/>
              </a:ext>
            </a:extLst>
          </p:cNvPr>
          <p:cNvSpPr>
            <a:spLocks noGrp="1"/>
          </p:cNvSpPr>
          <p:nvPr>
            <p:ph type="title"/>
          </p:nvPr>
        </p:nvSpPr>
        <p:spPr/>
        <p:txBody>
          <a:bodyPr/>
          <a:lstStyle/>
          <a:p>
            <a:r>
              <a:rPr lang="en-US" dirty="0"/>
              <a:t>Concept</a:t>
            </a:r>
            <a:endParaRPr lang="en-GB" dirty="0"/>
          </a:p>
        </p:txBody>
      </p:sp>
      <p:sp>
        <p:nvSpPr>
          <p:cNvPr id="3" name="Content Placeholder 2">
            <a:extLst>
              <a:ext uri="{FF2B5EF4-FFF2-40B4-BE49-F238E27FC236}">
                <a16:creationId xmlns:a16="http://schemas.microsoft.com/office/drawing/2014/main" id="{F0F025D4-539D-4291-B577-53B813C0328A}"/>
              </a:ext>
            </a:extLst>
          </p:cNvPr>
          <p:cNvSpPr>
            <a:spLocks noGrp="1"/>
          </p:cNvSpPr>
          <p:nvPr>
            <p:ph idx="1"/>
          </p:nvPr>
        </p:nvSpPr>
        <p:spPr/>
        <p:txBody>
          <a:bodyPr/>
          <a:lstStyle/>
          <a:p>
            <a:r>
              <a:rPr lang="en-US" dirty="0"/>
              <a:t>How did I initially approach the problem?</a:t>
            </a:r>
          </a:p>
          <a:p>
            <a:pPr marL="0" indent="0">
              <a:buNone/>
            </a:pPr>
            <a:r>
              <a:rPr lang="en-US" dirty="0"/>
              <a:t>Firstly, I identified what I needed to achieve through the use of User Stories on my Jira Scrum board, broke down the project into multiple little steps and assigned each step a sprint, so I could tackle the problem in 3 major sprints; a back end sprint, a front end sprint and a testing sprint. From this, I was able to figure out a starting point for the backend and continue from there. Alongside the user stories, I also created an entity relationship diagram (ERD) and a unified modeling language diagram (UML) to understand how each part of the backend would interact with one another. From there I was able to continue in a similar fashion and approach the front end and testing sprints in a similar way.</a:t>
            </a:r>
            <a:endParaRPr lang="en-GB" dirty="0"/>
          </a:p>
        </p:txBody>
      </p:sp>
    </p:spTree>
    <p:extLst>
      <p:ext uri="{BB962C8B-B14F-4D97-AF65-F5344CB8AC3E}">
        <p14:creationId xmlns:p14="http://schemas.microsoft.com/office/powerpoint/2010/main" val="3452038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9C15D-9A3C-4BC3-A0A3-C0C66CE81F90}"/>
              </a:ext>
            </a:extLst>
          </p:cNvPr>
          <p:cNvSpPr>
            <a:spLocks noGrp="1"/>
          </p:cNvSpPr>
          <p:nvPr>
            <p:ph type="title"/>
          </p:nvPr>
        </p:nvSpPr>
        <p:spPr/>
        <p:txBody>
          <a:bodyPr/>
          <a:lstStyle/>
          <a:p>
            <a:r>
              <a:rPr lang="en-US" dirty="0"/>
              <a:t>Sprint Plan</a:t>
            </a:r>
            <a:endParaRPr lang="en-GB" dirty="0"/>
          </a:p>
        </p:txBody>
      </p:sp>
      <p:sp>
        <p:nvSpPr>
          <p:cNvPr id="3" name="Content Placeholder 2">
            <a:extLst>
              <a:ext uri="{FF2B5EF4-FFF2-40B4-BE49-F238E27FC236}">
                <a16:creationId xmlns:a16="http://schemas.microsoft.com/office/drawing/2014/main" id="{EBE17DDE-0052-456C-AC9D-3CF058D6B85E}"/>
              </a:ext>
            </a:extLst>
          </p:cNvPr>
          <p:cNvSpPr>
            <a:spLocks noGrp="1"/>
          </p:cNvSpPr>
          <p:nvPr>
            <p:ph idx="1"/>
          </p:nvPr>
        </p:nvSpPr>
        <p:spPr>
          <a:xfrm>
            <a:off x="803263" y="2468032"/>
            <a:ext cx="8825659" cy="4389968"/>
          </a:xfrm>
        </p:spPr>
        <p:txBody>
          <a:bodyPr>
            <a:normAutofit/>
          </a:bodyPr>
          <a:lstStyle/>
          <a:p>
            <a:r>
              <a:rPr lang="en-US" dirty="0"/>
              <a:t>What needed to be included? </a:t>
            </a:r>
          </a:p>
          <a:p>
            <a:pPr>
              <a:buFontTx/>
              <a:buChar char="-"/>
            </a:pPr>
            <a:r>
              <a:rPr lang="en-US" dirty="0"/>
              <a:t>The project must have </a:t>
            </a:r>
            <a:r>
              <a:rPr lang="en-GB" dirty="0"/>
              <a:t>a Java back-end developed with Spring Boot allowing for the processing of dealing with the user’s input and manipulating the SQL database.</a:t>
            </a:r>
          </a:p>
          <a:p>
            <a:pPr>
              <a:buFontTx/>
              <a:buChar char="-"/>
            </a:pPr>
            <a:r>
              <a:rPr lang="en-US" dirty="0"/>
              <a:t>T</a:t>
            </a:r>
            <a:r>
              <a:rPr lang="en-GB" dirty="0"/>
              <a:t>he project must have a HTML front-end developed webpage that presents the user with their Lists and Items that they can interact with.</a:t>
            </a:r>
          </a:p>
          <a:p>
            <a:pPr>
              <a:buFontTx/>
              <a:buChar char="-"/>
            </a:pPr>
            <a:r>
              <a:rPr lang="en-GB" dirty="0"/>
              <a:t>Must have respective JavaScript fetch commands for the CRUD functionality of both entities (</a:t>
            </a:r>
            <a:r>
              <a:rPr lang="en-GB" dirty="0" err="1"/>
              <a:t>ListName</a:t>
            </a:r>
            <a:r>
              <a:rPr lang="en-GB" dirty="0"/>
              <a:t> and </a:t>
            </a:r>
            <a:r>
              <a:rPr lang="en-GB" dirty="0" err="1"/>
              <a:t>ListItem</a:t>
            </a:r>
            <a:r>
              <a:rPr lang="en-GB" dirty="0"/>
              <a:t>)</a:t>
            </a:r>
            <a:endParaRPr lang="en-US" dirty="0"/>
          </a:p>
          <a:p>
            <a:r>
              <a:rPr lang="en-US" dirty="0"/>
              <a:t>What did I hope to achieve?</a:t>
            </a:r>
            <a:endParaRPr lang="en-GB" dirty="0"/>
          </a:p>
          <a:p>
            <a:pPr marL="0" indent="0">
              <a:buNone/>
            </a:pPr>
            <a:r>
              <a:rPr lang="en-US" dirty="0"/>
              <a:t>I hoped to have a nicely developed front page utilizing bootstrap and CSS to make the user interface a nice experience for the user as well as custom queries/methods for extra functionality i.e. quickly merging two lists together.</a:t>
            </a:r>
          </a:p>
          <a:p>
            <a:pPr marL="0" indent="0">
              <a:buNone/>
            </a:pPr>
            <a:endParaRPr lang="en-US" dirty="0"/>
          </a:p>
        </p:txBody>
      </p:sp>
    </p:spTree>
    <p:extLst>
      <p:ext uri="{BB962C8B-B14F-4D97-AF65-F5344CB8AC3E}">
        <p14:creationId xmlns:p14="http://schemas.microsoft.com/office/powerpoint/2010/main" val="1114140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6FD2-FC6A-419E-9F57-6B7C3D1AA890}"/>
              </a:ext>
            </a:extLst>
          </p:cNvPr>
          <p:cNvSpPr>
            <a:spLocks noGrp="1"/>
          </p:cNvSpPr>
          <p:nvPr>
            <p:ph type="title"/>
          </p:nvPr>
        </p:nvSpPr>
        <p:spPr>
          <a:xfrm>
            <a:off x="1154954" y="949570"/>
            <a:ext cx="3865134" cy="1735667"/>
          </a:xfrm>
        </p:spPr>
        <p:txBody>
          <a:bodyPr>
            <a:normAutofit fontScale="90000"/>
          </a:bodyPr>
          <a:lstStyle/>
          <a:p>
            <a:r>
              <a:rPr lang="en-US" dirty="0"/>
              <a:t>My Entity Relationship Diagram</a:t>
            </a:r>
            <a:endParaRPr lang="en-GB" dirty="0"/>
          </a:p>
        </p:txBody>
      </p:sp>
      <p:sp>
        <p:nvSpPr>
          <p:cNvPr id="4" name="Text Placeholder 3">
            <a:extLst>
              <a:ext uri="{FF2B5EF4-FFF2-40B4-BE49-F238E27FC236}">
                <a16:creationId xmlns:a16="http://schemas.microsoft.com/office/drawing/2014/main" id="{4A12D0E6-6ADD-469C-891D-454768B053B3}"/>
              </a:ext>
            </a:extLst>
          </p:cNvPr>
          <p:cNvSpPr>
            <a:spLocks noGrp="1"/>
          </p:cNvSpPr>
          <p:nvPr>
            <p:ph type="body" sz="half" idx="2"/>
          </p:nvPr>
        </p:nvSpPr>
        <p:spPr>
          <a:xfrm>
            <a:off x="1160876" y="3047348"/>
            <a:ext cx="3859212" cy="2250831"/>
          </a:xfrm>
        </p:spPr>
        <p:txBody>
          <a:bodyPr>
            <a:noAutofit/>
          </a:bodyPr>
          <a:lstStyle/>
          <a:p>
            <a:r>
              <a:rPr lang="en-US" sz="1800" dirty="0"/>
              <a:t>This is the before and after of my Entity Relationship Diagram I created in order to understand the SQL relationship between the two entities I created in SpringBoot; where I would need to know the difference between the two entities, their respective parameters and the relationship they share.</a:t>
            </a:r>
            <a:endParaRPr lang="en-GB" sz="1800" dirty="0"/>
          </a:p>
        </p:txBody>
      </p:sp>
      <p:pic>
        <p:nvPicPr>
          <p:cNvPr id="6" name="Picture 5">
            <a:extLst>
              <a:ext uri="{FF2B5EF4-FFF2-40B4-BE49-F238E27FC236}">
                <a16:creationId xmlns:a16="http://schemas.microsoft.com/office/drawing/2014/main" id="{244C871B-9AEB-46D8-B124-4260E0FD73CC}"/>
              </a:ext>
            </a:extLst>
          </p:cNvPr>
          <p:cNvPicPr>
            <a:picLocks noChangeAspect="1"/>
          </p:cNvPicPr>
          <p:nvPr/>
        </p:nvPicPr>
        <p:blipFill>
          <a:blip r:embed="rId2"/>
          <a:stretch>
            <a:fillRect/>
          </a:stretch>
        </p:blipFill>
        <p:spPr>
          <a:xfrm>
            <a:off x="5976243" y="1472865"/>
            <a:ext cx="6215757" cy="1956135"/>
          </a:xfrm>
          <a:prstGeom prst="rect">
            <a:avLst/>
          </a:prstGeom>
        </p:spPr>
      </p:pic>
      <p:sp>
        <p:nvSpPr>
          <p:cNvPr id="7" name="TextBox 6">
            <a:extLst>
              <a:ext uri="{FF2B5EF4-FFF2-40B4-BE49-F238E27FC236}">
                <a16:creationId xmlns:a16="http://schemas.microsoft.com/office/drawing/2014/main" id="{2EDC4F39-C58A-4760-84B4-73F8275D8215}"/>
              </a:ext>
            </a:extLst>
          </p:cNvPr>
          <p:cNvSpPr txBox="1"/>
          <p:nvPr/>
        </p:nvSpPr>
        <p:spPr>
          <a:xfrm>
            <a:off x="6096000" y="1288199"/>
            <a:ext cx="776175" cy="369332"/>
          </a:xfrm>
          <a:prstGeom prst="rect">
            <a:avLst/>
          </a:prstGeom>
          <a:noFill/>
        </p:spPr>
        <p:txBody>
          <a:bodyPr wrap="none" rtlCol="0">
            <a:spAutoFit/>
          </a:bodyPr>
          <a:lstStyle/>
          <a:p>
            <a:r>
              <a:rPr lang="en-US" b="1" u="sng" dirty="0"/>
              <a:t>Initial</a:t>
            </a:r>
            <a:endParaRPr lang="en-GB" b="1" u="sng" dirty="0"/>
          </a:p>
        </p:txBody>
      </p:sp>
      <p:pic>
        <p:nvPicPr>
          <p:cNvPr id="9" name="Picture 8">
            <a:extLst>
              <a:ext uri="{FF2B5EF4-FFF2-40B4-BE49-F238E27FC236}">
                <a16:creationId xmlns:a16="http://schemas.microsoft.com/office/drawing/2014/main" id="{47FAECA7-DA9D-4904-B30D-0CCA7216752C}"/>
              </a:ext>
            </a:extLst>
          </p:cNvPr>
          <p:cNvPicPr>
            <a:picLocks noChangeAspect="1"/>
          </p:cNvPicPr>
          <p:nvPr/>
        </p:nvPicPr>
        <p:blipFill>
          <a:blip r:embed="rId3"/>
          <a:stretch>
            <a:fillRect/>
          </a:stretch>
        </p:blipFill>
        <p:spPr>
          <a:xfrm>
            <a:off x="5976243" y="4172762"/>
            <a:ext cx="5837599" cy="1956135"/>
          </a:xfrm>
          <a:prstGeom prst="rect">
            <a:avLst/>
          </a:prstGeom>
        </p:spPr>
      </p:pic>
      <p:sp>
        <p:nvSpPr>
          <p:cNvPr id="10" name="TextBox 9">
            <a:extLst>
              <a:ext uri="{FF2B5EF4-FFF2-40B4-BE49-F238E27FC236}">
                <a16:creationId xmlns:a16="http://schemas.microsoft.com/office/drawing/2014/main" id="{1E83DD8A-D5DA-4C26-89C9-AD79EEB7C6B0}"/>
              </a:ext>
            </a:extLst>
          </p:cNvPr>
          <p:cNvSpPr txBox="1"/>
          <p:nvPr/>
        </p:nvSpPr>
        <p:spPr>
          <a:xfrm>
            <a:off x="6151543" y="3988096"/>
            <a:ext cx="697627" cy="369332"/>
          </a:xfrm>
          <a:prstGeom prst="rect">
            <a:avLst/>
          </a:prstGeom>
          <a:noFill/>
        </p:spPr>
        <p:txBody>
          <a:bodyPr wrap="none" rtlCol="0">
            <a:spAutoFit/>
          </a:bodyPr>
          <a:lstStyle/>
          <a:p>
            <a:r>
              <a:rPr lang="en-US" b="1" u="sng" dirty="0"/>
              <a:t>Final</a:t>
            </a:r>
            <a:endParaRPr lang="en-GB" b="1" u="sng" dirty="0"/>
          </a:p>
        </p:txBody>
      </p:sp>
    </p:spTree>
    <p:extLst>
      <p:ext uri="{BB962C8B-B14F-4D97-AF65-F5344CB8AC3E}">
        <p14:creationId xmlns:p14="http://schemas.microsoft.com/office/powerpoint/2010/main" val="285917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D6DD9-1765-4C9D-8660-66050DCF3040}"/>
              </a:ext>
            </a:extLst>
          </p:cNvPr>
          <p:cNvSpPr>
            <a:spLocks noGrp="1"/>
          </p:cNvSpPr>
          <p:nvPr>
            <p:ph type="title"/>
          </p:nvPr>
        </p:nvSpPr>
        <p:spPr/>
        <p:txBody>
          <a:bodyPr/>
          <a:lstStyle/>
          <a:p>
            <a:r>
              <a:rPr lang="en-US" dirty="0"/>
              <a:t>Consultant Journey</a:t>
            </a:r>
            <a:endParaRPr lang="en-GB" dirty="0"/>
          </a:p>
        </p:txBody>
      </p:sp>
      <p:sp>
        <p:nvSpPr>
          <p:cNvPr id="3" name="Content Placeholder 2">
            <a:extLst>
              <a:ext uri="{FF2B5EF4-FFF2-40B4-BE49-F238E27FC236}">
                <a16:creationId xmlns:a16="http://schemas.microsoft.com/office/drawing/2014/main" id="{71D76EA9-A4A2-4673-A448-65BF3F481BC7}"/>
              </a:ext>
            </a:extLst>
          </p:cNvPr>
          <p:cNvSpPr>
            <a:spLocks noGrp="1"/>
          </p:cNvSpPr>
          <p:nvPr>
            <p:ph idx="1"/>
          </p:nvPr>
        </p:nvSpPr>
        <p:spPr>
          <a:xfrm>
            <a:off x="498462" y="2430797"/>
            <a:ext cx="6254031" cy="421054"/>
          </a:xfrm>
        </p:spPr>
        <p:txBody>
          <a:bodyPr/>
          <a:lstStyle/>
          <a:p>
            <a:r>
              <a:rPr lang="en-US" dirty="0"/>
              <a:t>What technologies have I learnt for this project?</a:t>
            </a:r>
            <a:endParaRPr lang="en-GB" dirty="0"/>
          </a:p>
        </p:txBody>
      </p:sp>
      <p:sp>
        <p:nvSpPr>
          <p:cNvPr id="4" name="TextBox 3">
            <a:extLst>
              <a:ext uri="{FF2B5EF4-FFF2-40B4-BE49-F238E27FC236}">
                <a16:creationId xmlns:a16="http://schemas.microsoft.com/office/drawing/2014/main" id="{9F5496FD-6E02-4F72-889F-3079530A3E79}"/>
              </a:ext>
            </a:extLst>
          </p:cNvPr>
          <p:cNvSpPr txBox="1"/>
          <p:nvPr/>
        </p:nvSpPr>
        <p:spPr>
          <a:xfrm>
            <a:off x="7207755" y="2374949"/>
            <a:ext cx="2261781" cy="1754326"/>
          </a:xfrm>
          <a:prstGeom prst="rect">
            <a:avLst/>
          </a:prstGeom>
          <a:noFill/>
        </p:spPr>
        <p:txBody>
          <a:bodyPr wrap="square" rtlCol="0">
            <a:spAutoFit/>
          </a:bodyPr>
          <a:lstStyle/>
          <a:p>
            <a:r>
              <a:rPr lang="en-US" b="1" u="sng" dirty="0"/>
              <a:t>Maven</a:t>
            </a:r>
            <a:r>
              <a:rPr lang="en-US" dirty="0"/>
              <a:t>: Build tool used to inject dependencies, clean and package the project into .war</a:t>
            </a:r>
            <a:endParaRPr lang="en-GB" dirty="0"/>
          </a:p>
        </p:txBody>
      </p:sp>
      <p:sp>
        <p:nvSpPr>
          <p:cNvPr id="5" name="TextBox 4">
            <a:extLst>
              <a:ext uri="{FF2B5EF4-FFF2-40B4-BE49-F238E27FC236}">
                <a16:creationId xmlns:a16="http://schemas.microsoft.com/office/drawing/2014/main" id="{1E15E2AA-9D8D-463C-A9B5-FF25A0C44D5B}"/>
              </a:ext>
            </a:extLst>
          </p:cNvPr>
          <p:cNvSpPr txBox="1"/>
          <p:nvPr/>
        </p:nvSpPr>
        <p:spPr>
          <a:xfrm>
            <a:off x="9916367" y="3539663"/>
            <a:ext cx="1718784" cy="923330"/>
          </a:xfrm>
          <a:prstGeom prst="rect">
            <a:avLst/>
          </a:prstGeom>
          <a:noFill/>
        </p:spPr>
        <p:txBody>
          <a:bodyPr wrap="square" rtlCol="0">
            <a:spAutoFit/>
          </a:bodyPr>
          <a:lstStyle/>
          <a:p>
            <a:r>
              <a:rPr lang="en-US" b="1" u="sng" dirty="0"/>
              <a:t>Junit: </a:t>
            </a:r>
            <a:r>
              <a:rPr lang="en-US" dirty="0"/>
              <a:t>Tool used to write unit tests</a:t>
            </a:r>
            <a:endParaRPr lang="en-GB" dirty="0"/>
          </a:p>
        </p:txBody>
      </p:sp>
      <p:sp>
        <p:nvSpPr>
          <p:cNvPr id="6" name="TextBox 5">
            <a:extLst>
              <a:ext uri="{FF2B5EF4-FFF2-40B4-BE49-F238E27FC236}">
                <a16:creationId xmlns:a16="http://schemas.microsoft.com/office/drawing/2014/main" id="{A6EF017C-835E-4F05-9886-DA8C71D9E5BF}"/>
              </a:ext>
            </a:extLst>
          </p:cNvPr>
          <p:cNvSpPr txBox="1"/>
          <p:nvPr/>
        </p:nvSpPr>
        <p:spPr>
          <a:xfrm>
            <a:off x="9735267" y="4701405"/>
            <a:ext cx="2154182" cy="1754326"/>
          </a:xfrm>
          <a:prstGeom prst="rect">
            <a:avLst/>
          </a:prstGeom>
          <a:noFill/>
        </p:spPr>
        <p:txBody>
          <a:bodyPr wrap="square" rtlCol="0">
            <a:spAutoFit/>
          </a:bodyPr>
          <a:lstStyle/>
          <a:p>
            <a:r>
              <a:rPr lang="en-US" b="1" u="sng" dirty="0"/>
              <a:t>Git</a:t>
            </a:r>
            <a:r>
              <a:rPr lang="en-US" dirty="0"/>
              <a:t>: The Version Control System I used to keep track and update the project</a:t>
            </a:r>
            <a:endParaRPr lang="en-GB" dirty="0"/>
          </a:p>
        </p:txBody>
      </p:sp>
      <p:sp>
        <p:nvSpPr>
          <p:cNvPr id="7" name="TextBox 6">
            <a:extLst>
              <a:ext uri="{FF2B5EF4-FFF2-40B4-BE49-F238E27FC236}">
                <a16:creationId xmlns:a16="http://schemas.microsoft.com/office/drawing/2014/main" id="{2DF47214-F76D-49BB-A4A7-632FFC775C53}"/>
              </a:ext>
            </a:extLst>
          </p:cNvPr>
          <p:cNvSpPr txBox="1"/>
          <p:nvPr/>
        </p:nvSpPr>
        <p:spPr>
          <a:xfrm>
            <a:off x="4200144" y="2938513"/>
            <a:ext cx="3108769" cy="1477328"/>
          </a:xfrm>
          <a:prstGeom prst="rect">
            <a:avLst/>
          </a:prstGeom>
          <a:noFill/>
        </p:spPr>
        <p:txBody>
          <a:bodyPr wrap="square" rtlCol="0">
            <a:spAutoFit/>
          </a:bodyPr>
          <a:lstStyle/>
          <a:p>
            <a:r>
              <a:rPr lang="en-US" b="1" u="sng" dirty="0"/>
              <a:t>Spring Tool Suite 4</a:t>
            </a:r>
            <a:r>
              <a:rPr lang="en-US" dirty="0"/>
              <a:t>: This was the IDE used to develop the backend, similar to Eclipse, but with Spring functionality </a:t>
            </a:r>
            <a:endParaRPr lang="en-GB" dirty="0"/>
          </a:p>
        </p:txBody>
      </p:sp>
      <p:sp>
        <p:nvSpPr>
          <p:cNvPr id="8" name="TextBox 7">
            <a:extLst>
              <a:ext uri="{FF2B5EF4-FFF2-40B4-BE49-F238E27FC236}">
                <a16:creationId xmlns:a16="http://schemas.microsoft.com/office/drawing/2014/main" id="{521A6AE4-1707-4CEA-B855-C28CF4CA0F54}"/>
              </a:ext>
            </a:extLst>
          </p:cNvPr>
          <p:cNvSpPr txBox="1"/>
          <p:nvPr/>
        </p:nvSpPr>
        <p:spPr>
          <a:xfrm>
            <a:off x="4077712" y="4646183"/>
            <a:ext cx="3014151" cy="369332"/>
          </a:xfrm>
          <a:prstGeom prst="rect">
            <a:avLst/>
          </a:prstGeom>
          <a:noFill/>
        </p:spPr>
        <p:txBody>
          <a:bodyPr wrap="square" rtlCol="0">
            <a:spAutoFit/>
          </a:bodyPr>
          <a:lstStyle/>
          <a:p>
            <a:r>
              <a:rPr lang="en-US" b="1" u="sng" dirty="0"/>
              <a:t>SonarQube: </a:t>
            </a:r>
            <a:r>
              <a:rPr lang="en-US" dirty="0"/>
              <a:t>code smells</a:t>
            </a:r>
            <a:endParaRPr lang="en-GB" b="1" u="sng" dirty="0"/>
          </a:p>
        </p:txBody>
      </p:sp>
      <p:sp>
        <p:nvSpPr>
          <p:cNvPr id="9" name="TextBox 8">
            <a:extLst>
              <a:ext uri="{FF2B5EF4-FFF2-40B4-BE49-F238E27FC236}">
                <a16:creationId xmlns:a16="http://schemas.microsoft.com/office/drawing/2014/main" id="{DCD76E10-99BF-4763-80FC-CE812B3D5F19}"/>
              </a:ext>
            </a:extLst>
          </p:cNvPr>
          <p:cNvSpPr txBox="1"/>
          <p:nvPr/>
        </p:nvSpPr>
        <p:spPr>
          <a:xfrm>
            <a:off x="6383039" y="5607715"/>
            <a:ext cx="2870651" cy="923330"/>
          </a:xfrm>
          <a:prstGeom prst="rect">
            <a:avLst/>
          </a:prstGeom>
          <a:noFill/>
        </p:spPr>
        <p:txBody>
          <a:bodyPr wrap="square" rtlCol="0">
            <a:spAutoFit/>
          </a:bodyPr>
          <a:lstStyle/>
          <a:p>
            <a:r>
              <a:rPr lang="en-US" b="1" u="sng" dirty="0"/>
              <a:t>Visual Studio Code</a:t>
            </a:r>
            <a:r>
              <a:rPr lang="en-US" dirty="0"/>
              <a:t>: The IDE used to develop the front end</a:t>
            </a:r>
            <a:endParaRPr lang="en-GB" dirty="0"/>
          </a:p>
        </p:txBody>
      </p:sp>
      <p:sp>
        <p:nvSpPr>
          <p:cNvPr id="10" name="TextBox 9">
            <a:extLst>
              <a:ext uri="{FF2B5EF4-FFF2-40B4-BE49-F238E27FC236}">
                <a16:creationId xmlns:a16="http://schemas.microsoft.com/office/drawing/2014/main" id="{71A0CA21-022D-4CAE-9F5F-D765C377E2B7}"/>
              </a:ext>
            </a:extLst>
          </p:cNvPr>
          <p:cNvSpPr txBox="1"/>
          <p:nvPr/>
        </p:nvSpPr>
        <p:spPr>
          <a:xfrm>
            <a:off x="9478118" y="2569180"/>
            <a:ext cx="1772399" cy="646331"/>
          </a:xfrm>
          <a:prstGeom prst="rect">
            <a:avLst/>
          </a:prstGeom>
          <a:noFill/>
        </p:spPr>
        <p:txBody>
          <a:bodyPr wrap="square" rtlCol="0">
            <a:spAutoFit/>
          </a:bodyPr>
          <a:lstStyle/>
          <a:p>
            <a:r>
              <a:rPr lang="en-US" b="1" u="sng" dirty="0"/>
              <a:t>Selenium: </a:t>
            </a:r>
            <a:r>
              <a:rPr lang="en-US" dirty="0"/>
              <a:t>Tool used during </a:t>
            </a:r>
            <a:endParaRPr lang="en-GB" dirty="0"/>
          </a:p>
        </p:txBody>
      </p:sp>
      <p:sp>
        <p:nvSpPr>
          <p:cNvPr id="11" name="TextBox 10">
            <a:extLst>
              <a:ext uri="{FF2B5EF4-FFF2-40B4-BE49-F238E27FC236}">
                <a16:creationId xmlns:a16="http://schemas.microsoft.com/office/drawing/2014/main" id="{7541CBF2-0203-4F71-B004-D92B7703A7FD}"/>
              </a:ext>
            </a:extLst>
          </p:cNvPr>
          <p:cNvSpPr txBox="1"/>
          <p:nvPr/>
        </p:nvSpPr>
        <p:spPr>
          <a:xfrm>
            <a:off x="2284732" y="4148794"/>
            <a:ext cx="1839127" cy="1754326"/>
          </a:xfrm>
          <a:prstGeom prst="rect">
            <a:avLst/>
          </a:prstGeom>
          <a:noFill/>
        </p:spPr>
        <p:txBody>
          <a:bodyPr wrap="square" rtlCol="0">
            <a:spAutoFit/>
          </a:bodyPr>
          <a:lstStyle/>
          <a:p>
            <a:r>
              <a:rPr lang="en-US" b="1" u="sng" dirty="0"/>
              <a:t>Lombok</a:t>
            </a:r>
            <a:r>
              <a:rPr lang="en-US" dirty="0"/>
              <a:t>: A tool I used to generate functionality methods in classes</a:t>
            </a:r>
            <a:endParaRPr lang="en-GB" dirty="0"/>
          </a:p>
        </p:txBody>
      </p:sp>
      <p:sp>
        <p:nvSpPr>
          <p:cNvPr id="12" name="TextBox 11">
            <a:extLst>
              <a:ext uri="{FF2B5EF4-FFF2-40B4-BE49-F238E27FC236}">
                <a16:creationId xmlns:a16="http://schemas.microsoft.com/office/drawing/2014/main" id="{6448A99B-0205-4ED1-B6A2-B6BC871FF72F}"/>
              </a:ext>
            </a:extLst>
          </p:cNvPr>
          <p:cNvSpPr txBox="1"/>
          <p:nvPr/>
        </p:nvSpPr>
        <p:spPr>
          <a:xfrm>
            <a:off x="7045716" y="4417775"/>
            <a:ext cx="2870651" cy="923330"/>
          </a:xfrm>
          <a:prstGeom prst="rect">
            <a:avLst/>
          </a:prstGeom>
          <a:noFill/>
        </p:spPr>
        <p:txBody>
          <a:bodyPr wrap="square" rtlCol="0">
            <a:spAutoFit/>
          </a:bodyPr>
          <a:lstStyle/>
          <a:p>
            <a:r>
              <a:rPr lang="en-US" b="1" u="sng" dirty="0"/>
              <a:t>Mockito: </a:t>
            </a:r>
            <a:r>
              <a:rPr lang="en-US" dirty="0"/>
              <a:t>Tool used to mock dependencies during testing</a:t>
            </a:r>
            <a:endParaRPr lang="en-GB" dirty="0"/>
          </a:p>
        </p:txBody>
      </p:sp>
      <p:sp>
        <p:nvSpPr>
          <p:cNvPr id="13" name="TextBox 12">
            <a:extLst>
              <a:ext uri="{FF2B5EF4-FFF2-40B4-BE49-F238E27FC236}">
                <a16:creationId xmlns:a16="http://schemas.microsoft.com/office/drawing/2014/main" id="{A0963440-4948-4A76-A4EB-5EDFF9B41CD7}"/>
              </a:ext>
            </a:extLst>
          </p:cNvPr>
          <p:cNvSpPr txBox="1"/>
          <p:nvPr/>
        </p:nvSpPr>
        <p:spPr>
          <a:xfrm>
            <a:off x="258540" y="2966071"/>
            <a:ext cx="3108769" cy="1200329"/>
          </a:xfrm>
          <a:prstGeom prst="rect">
            <a:avLst/>
          </a:prstGeom>
          <a:noFill/>
        </p:spPr>
        <p:txBody>
          <a:bodyPr wrap="square" rtlCol="0">
            <a:spAutoFit/>
          </a:bodyPr>
          <a:lstStyle/>
          <a:p>
            <a:r>
              <a:rPr lang="en-US" b="1" u="sng" dirty="0"/>
              <a:t>Languages:</a:t>
            </a:r>
          </a:p>
          <a:p>
            <a:r>
              <a:rPr lang="en-US" dirty="0"/>
              <a:t>Backend written in: Java </a:t>
            </a:r>
          </a:p>
          <a:p>
            <a:r>
              <a:rPr lang="en-US" dirty="0"/>
              <a:t>Frontend written in: HTML, CSS, JS</a:t>
            </a:r>
            <a:endParaRPr lang="en-GB" dirty="0"/>
          </a:p>
        </p:txBody>
      </p:sp>
      <p:sp>
        <p:nvSpPr>
          <p:cNvPr id="14" name="TextBox 13">
            <a:extLst>
              <a:ext uri="{FF2B5EF4-FFF2-40B4-BE49-F238E27FC236}">
                <a16:creationId xmlns:a16="http://schemas.microsoft.com/office/drawing/2014/main" id="{C78C42D6-1194-4550-AB9A-9A1C2AA44582}"/>
              </a:ext>
            </a:extLst>
          </p:cNvPr>
          <p:cNvSpPr txBox="1"/>
          <p:nvPr/>
        </p:nvSpPr>
        <p:spPr>
          <a:xfrm>
            <a:off x="3912991" y="5302955"/>
            <a:ext cx="2183009" cy="1200329"/>
          </a:xfrm>
          <a:prstGeom prst="rect">
            <a:avLst/>
          </a:prstGeom>
          <a:noFill/>
        </p:spPr>
        <p:txBody>
          <a:bodyPr wrap="square" rtlCol="0">
            <a:spAutoFit/>
          </a:bodyPr>
          <a:lstStyle/>
          <a:p>
            <a:r>
              <a:rPr lang="en-US" b="1" u="sng" dirty="0"/>
              <a:t>Jira:</a:t>
            </a:r>
            <a:r>
              <a:rPr lang="en-US" dirty="0"/>
              <a:t> The project management platform used to plan the project.</a:t>
            </a:r>
            <a:endParaRPr lang="en-GB" b="1" u="sng" dirty="0"/>
          </a:p>
        </p:txBody>
      </p:sp>
      <p:sp>
        <p:nvSpPr>
          <p:cNvPr id="15" name="TextBox 14">
            <a:extLst>
              <a:ext uri="{FF2B5EF4-FFF2-40B4-BE49-F238E27FC236}">
                <a16:creationId xmlns:a16="http://schemas.microsoft.com/office/drawing/2014/main" id="{61D359AB-8692-4D29-B620-D3FFCFBD6FBB}"/>
              </a:ext>
            </a:extLst>
          </p:cNvPr>
          <p:cNvSpPr txBox="1"/>
          <p:nvPr/>
        </p:nvSpPr>
        <p:spPr>
          <a:xfrm>
            <a:off x="258540" y="4384831"/>
            <a:ext cx="1749613" cy="2308324"/>
          </a:xfrm>
          <a:prstGeom prst="rect">
            <a:avLst/>
          </a:prstGeom>
          <a:noFill/>
        </p:spPr>
        <p:txBody>
          <a:bodyPr wrap="square" rtlCol="0">
            <a:spAutoFit/>
          </a:bodyPr>
          <a:lstStyle/>
          <a:p>
            <a:r>
              <a:rPr lang="en-US" b="1" u="sng" dirty="0"/>
              <a:t>Postman</a:t>
            </a:r>
            <a:r>
              <a:rPr lang="en-US" dirty="0"/>
              <a:t>: The tool I used to interact with the API and send HTTP Requests to initially test functionality.</a:t>
            </a:r>
            <a:endParaRPr lang="en-GB" dirty="0"/>
          </a:p>
        </p:txBody>
      </p:sp>
    </p:spTree>
    <p:extLst>
      <p:ext uri="{BB962C8B-B14F-4D97-AF65-F5344CB8AC3E}">
        <p14:creationId xmlns:p14="http://schemas.microsoft.com/office/powerpoint/2010/main" val="1140161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65BDC-C262-4B62-831D-0D32DA704A17}"/>
              </a:ext>
            </a:extLst>
          </p:cNvPr>
          <p:cNvSpPr>
            <a:spLocks noGrp="1"/>
          </p:cNvSpPr>
          <p:nvPr>
            <p:ph type="title"/>
          </p:nvPr>
        </p:nvSpPr>
        <p:spPr/>
        <p:txBody>
          <a:bodyPr/>
          <a:lstStyle/>
          <a:p>
            <a:r>
              <a:rPr lang="en-US" dirty="0"/>
              <a:t>Continuous Integration</a:t>
            </a:r>
            <a:endParaRPr lang="en-GB" dirty="0"/>
          </a:p>
        </p:txBody>
      </p:sp>
      <p:sp>
        <p:nvSpPr>
          <p:cNvPr id="3" name="Content Placeholder 2">
            <a:extLst>
              <a:ext uri="{FF2B5EF4-FFF2-40B4-BE49-F238E27FC236}">
                <a16:creationId xmlns:a16="http://schemas.microsoft.com/office/drawing/2014/main" id="{6451B1B5-278E-4FDC-AC7D-506A12172B63}"/>
              </a:ext>
            </a:extLst>
          </p:cNvPr>
          <p:cNvSpPr>
            <a:spLocks noGrp="1"/>
          </p:cNvSpPr>
          <p:nvPr>
            <p:ph idx="1"/>
          </p:nvPr>
        </p:nvSpPr>
        <p:spPr>
          <a:xfrm>
            <a:off x="1154954" y="2603500"/>
            <a:ext cx="9653723" cy="3820746"/>
          </a:xfrm>
        </p:spPr>
        <p:txBody>
          <a:bodyPr>
            <a:normAutofit fontScale="92500" lnSpcReduction="10000"/>
          </a:bodyPr>
          <a:lstStyle/>
          <a:p>
            <a:r>
              <a:rPr lang="en-US" dirty="0"/>
              <a:t>How did I approach version control?</a:t>
            </a:r>
          </a:p>
          <a:p>
            <a:pPr marL="0" indent="0">
              <a:buNone/>
            </a:pPr>
            <a:r>
              <a:rPr lang="en-US" dirty="0"/>
              <a:t>Throughout the development of this application, I ensured that new updates to the source code would not destroy the whole program by utilizing the Feature Branch model. Hence, starting with the original forked repo for the starting point of this project, I branched off of the main branch into my own, custom dev branch. Thereon, anytime I wanted to create new functionality based on the user stories I had created, I would branch off of those, name the branch based on the key of my Jira board user story (for link and integration purposes), and then merge it back in to the dev branch once I know I have made progress.</a:t>
            </a:r>
          </a:p>
          <a:p>
            <a:pPr marL="0" indent="0">
              <a:buNone/>
            </a:pPr>
            <a:endParaRPr lang="en-US" dirty="0"/>
          </a:p>
          <a:p>
            <a:pPr marL="0" indent="0">
              <a:buNone/>
            </a:pPr>
            <a:r>
              <a:rPr lang="en-US" i="1" dirty="0"/>
              <a:t>Example of the Version Control merging process.</a:t>
            </a:r>
          </a:p>
          <a:p>
            <a:pPr>
              <a:buFontTx/>
              <a:buChar char="-"/>
            </a:pPr>
            <a:r>
              <a:rPr lang="en-US" dirty="0"/>
              <a:t>Git checkout dev -&gt; git checkout TDL-25_xxx -&gt; (make changes) -&gt; git add . </a:t>
            </a:r>
          </a:p>
          <a:p>
            <a:pPr>
              <a:buFontTx/>
              <a:buChar char="-"/>
            </a:pPr>
            <a:r>
              <a:rPr lang="en-US" dirty="0"/>
              <a:t>(</a:t>
            </a:r>
            <a:r>
              <a:rPr lang="en-US" dirty="0" err="1"/>
              <a:t>etc</a:t>
            </a:r>
            <a:r>
              <a:rPr lang="en-US" dirty="0"/>
              <a:t>)</a:t>
            </a:r>
          </a:p>
          <a:p>
            <a:pPr marL="0" indent="0">
              <a:buNone/>
            </a:pPr>
            <a:endParaRPr lang="en-US" dirty="0"/>
          </a:p>
          <a:p>
            <a:endParaRPr lang="en-GB" dirty="0"/>
          </a:p>
        </p:txBody>
      </p:sp>
    </p:spTree>
    <p:extLst>
      <p:ext uri="{BB962C8B-B14F-4D97-AF65-F5344CB8AC3E}">
        <p14:creationId xmlns:p14="http://schemas.microsoft.com/office/powerpoint/2010/main" val="2982107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AA7C-05C5-49CF-B511-12B764EAB415}"/>
              </a:ext>
            </a:extLst>
          </p:cNvPr>
          <p:cNvSpPr>
            <a:spLocks noGrp="1"/>
          </p:cNvSpPr>
          <p:nvPr>
            <p:ph type="title"/>
          </p:nvPr>
        </p:nvSpPr>
        <p:spPr/>
        <p:txBody>
          <a:bodyPr/>
          <a:lstStyle/>
          <a:p>
            <a:r>
              <a:rPr lang="en-US" dirty="0"/>
              <a:t>My Project Roadmap</a:t>
            </a:r>
            <a:endParaRPr lang="en-GB" dirty="0"/>
          </a:p>
        </p:txBody>
      </p:sp>
      <p:pic>
        <p:nvPicPr>
          <p:cNvPr id="6" name="Content Placeholder 5">
            <a:extLst>
              <a:ext uri="{FF2B5EF4-FFF2-40B4-BE49-F238E27FC236}">
                <a16:creationId xmlns:a16="http://schemas.microsoft.com/office/drawing/2014/main" id="{DD9780B1-60B8-4788-B832-6639A6490A50}"/>
              </a:ext>
            </a:extLst>
          </p:cNvPr>
          <p:cNvPicPr>
            <a:picLocks noGrp="1" noChangeAspect="1"/>
          </p:cNvPicPr>
          <p:nvPr>
            <p:ph idx="1"/>
          </p:nvPr>
        </p:nvPicPr>
        <p:blipFill>
          <a:blip r:embed="rId2"/>
          <a:stretch>
            <a:fillRect/>
          </a:stretch>
        </p:blipFill>
        <p:spPr>
          <a:xfrm>
            <a:off x="4995744" y="2074202"/>
            <a:ext cx="6496289" cy="3909646"/>
          </a:xfrm>
        </p:spPr>
      </p:pic>
      <p:sp>
        <p:nvSpPr>
          <p:cNvPr id="4" name="Text Placeholder 3">
            <a:extLst>
              <a:ext uri="{FF2B5EF4-FFF2-40B4-BE49-F238E27FC236}">
                <a16:creationId xmlns:a16="http://schemas.microsoft.com/office/drawing/2014/main" id="{4E65ED62-8271-48AE-AA72-4F308EAD1FBA}"/>
              </a:ext>
            </a:extLst>
          </p:cNvPr>
          <p:cNvSpPr>
            <a:spLocks noGrp="1"/>
          </p:cNvSpPr>
          <p:nvPr>
            <p:ph type="body" sz="half" idx="2"/>
          </p:nvPr>
        </p:nvSpPr>
        <p:spPr/>
        <p:txBody>
          <a:bodyPr/>
          <a:lstStyle/>
          <a:p>
            <a:r>
              <a:rPr lang="en-US" dirty="0"/>
              <a:t>Here I show the two epics I created for the entities. I linked my Jira with my GitHub repo for this project for naming purposes to attach each commit to their respective user story; utilizing the user story conventional structure i.e. as a (…), I want to (...), so that I can (…).</a:t>
            </a:r>
            <a:endParaRPr lang="en-GB" dirty="0"/>
          </a:p>
        </p:txBody>
      </p:sp>
    </p:spTree>
    <p:extLst>
      <p:ext uri="{BB962C8B-B14F-4D97-AF65-F5344CB8AC3E}">
        <p14:creationId xmlns:p14="http://schemas.microsoft.com/office/powerpoint/2010/main" val="3066984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F390-86CC-40EB-A646-C38688CFAB16}"/>
              </a:ext>
            </a:extLst>
          </p:cNvPr>
          <p:cNvSpPr>
            <a:spLocks noGrp="1"/>
          </p:cNvSpPr>
          <p:nvPr>
            <p:ph type="title"/>
          </p:nvPr>
        </p:nvSpPr>
        <p:spPr/>
        <p:txBody>
          <a:bodyPr/>
          <a:lstStyle/>
          <a:p>
            <a:r>
              <a:rPr lang="en-US" dirty="0"/>
              <a:t>Interacting with the API using Postman</a:t>
            </a:r>
            <a:endParaRPr lang="en-GB" dirty="0"/>
          </a:p>
        </p:txBody>
      </p:sp>
      <p:sp>
        <p:nvSpPr>
          <p:cNvPr id="5" name="Text Placeholder 4">
            <a:extLst>
              <a:ext uri="{FF2B5EF4-FFF2-40B4-BE49-F238E27FC236}">
                <a16:creationId xmlns:a16="http://schemas.microsoft.com/office/drawing/2014/main" id="{EC792DE3-B66A-4572-87B6-40C142CE23AA}"/>
              </a:ext>
            </a:extLst>
          </p:cNvPr>
          <p:cNvSpPr>
            <a:spLocks noGrp="1"/>
          </p:cNvSpPr>
          <p:nvPr>
            <p:ph type="body" sz="quarter" idx="3"/>
          </p:nvPr>
        </p:nvSpPr>
        <p:spPr>
          <a:xfrm>
            <a:off x="1944849" y="3140869"/>
            <a:ext cx="8302301" cy="576262"/>
          </a:xfrm>
        </p:spPr>
        <p:txBody>
          <a:bodyPr/>
          <a:lstStyle/>
          <a:p>
            <a:r>
              <a:rPr lang="en-US" dirty="0"/>
              <a:t>An illustration of how I communicated with my application using Postman to send HTTP Requests and the raw JSON body I send in a POST Request (create)</a:t>
            </a:r>
            <a:endParaRPr lang="en-GB" dirty="0"/>
          </a:p>
        </p:txBody>
      </p:sp>
      <p:pic>
        <p:nvPicPr>
          <p:cNvPr id="12" name="Content Placeholder 11">
            <a:extLst>
              <a:ext uri="{FF2B5EF4-FFF2-40B4-BE49-F238E27FC236}">
                <a16:creationId xmlns:a16="http://schemas.microsoft.com/office/drawing/2014/main" id="{0067B243-DCCB-47E1-9B82-90CF84B71C70}"/>
              </a:ext>
            </a:extLst>
          </p:cNvPr>
          <p:cNvPicPr>
            <a:picLocks noGrp="1" noChangeAspect="1"/>
          </p:cNvPicPr>
          <p:nvPr>
            <p:ph sz="quarter" idx="4"/>
          </p:nvPr>
        </p:nvPicPr>
        <p:blipFill>
          <a:blip r:embed="rId2"/>
          <a:stretch>
            <a:fillRect/>
          </a:stretch>
        </p:blipFill>
        <p:spPr>
          <a:xfrm>
            <a:off x="711248" y="3717131"/>
            <a:ext cx="10594072" cy="2824346"/>
          </a:xfrm>
        </p:spPr>
      </p:pic>
    </p:spTree>
    <p:extLst>
      <p:ext uri="{BB962C8B-B14F-4D97-AF65-F5344CB8AC3E}">
        <p14:creationId xmlns:p14="http://schemas.microsoft.com/office/powerpoint/2010/main" val="3258697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4B1AC-6028-407D-A1A1-613EF6F9E60A}"/>
              </a:ext>
            </a:extLst>
          </p:cNvPr>
          <p:cNvSpPr>
            <a:spLocks noGrp="1"/>
          </p:cNvSpPr>
          <p:nvPr>
            <p:ph type="title"/>
          </p:nvPr>
        </p:nvSpPr>
        <p:spPr/>
        <p:txBody>
          <a:bodyPr/>
          <a:lstStyle/>
          <a:p>
            <a:r>
              <a:rPr lang="en-US" dirty="0"/>
              <a:t>My Burndown Chart</a:t>
            </a:r>
            <a:endParaRPr lang="en-GB" dirty="0"/>
          </a:p>
        </p:txBody>
      </p:sp>
      <p:sp>
        <p:nvSpPr>
          <p:cNvPr id="4" name="Text Placeholder 3">
            <a:extLst>
              <a:ext uri="{FF2B5EF4-FFF2-40B4-BE49-F238E27FC236}">
                <a16:creationId xmlns:a16="http://schemas.microsoft.com/office/drawing/2014/main" id="{D1574702-FDEF-4A2F-8340-F9701455B62A}"/>
              </a:ext>
            </a:extLst>
          </p:cNvPr>
          <p:cNvSpPr>
            <a:spLocks noGrp="1"/>
          </p:cNvSpPr>
          <p:nvPr>
            <p:ph type="body" sz="half" idx="2"/>
          </p:nvPr>
        </p:nvSpPr>
        <p:spPr/>
        <p:txBody>
          <a:bodyPr/>
          <a:lstStyle/>
          <a:p>
            <a:r>
              <a:rPr lang="en-US" dirty="0"/>
              <a:t>Here are two of my Burndown Charts: My front-end sprint and my back-end sprint. You can see the rate at which I was able to complete the tasks/user stories I had created and assigned story points. Here’s a link to my Jira board: </a:t>
            </a:r>
            <a:r>
              <a:rPr lang="en-US" dirty="0">
                <a:hlinkClick r:id="rId2"/>
              </a:rPr>
              <a:t>https://pvaughan-williams.atlassian.net/secure/RapidBoard.jspa?rapidView=6&amp;projectKey=TDLIST</a:t>
            </a:r>
            <a:endParaRPr lang="en-GB" dirty="0"/>
          </a:p>
        </p:txBody>
      </p:sp>
      <p:pic>
        <p:nvPicPr>
          <p:cNvPr id="6" name="Picture 5">
            <a:extLst>
              <a:ext uri="{FF2B5EF4-FFF2-40B4-BE49-F238E27FC236}">
                <a16:creationId xmlns:a16="http://schemas.microsoft.com/office/drawing/2014/main" id="{B63103BC-D926-4B46-A0A9-34B8BD951668}"/>
              </a:ext>
            </a:extLst>
          </p:cNvPr>
          <p:cNvPicPr>
            <a:picLocks noChangeAspect="1"/>
          </p:cNvPicPr>
          <p:nvPr/>
        </p:nvPicPr>
        <p:blipFill>
          <a:blip r:embed="rId3"/>
          <a:stretch>
            <a:fillRect/>
          </a:stretch>
        </p:blipFill>
        <p:spPr>
          <a:xfrm>
            <a:off x="5085250" y="1203067"/>
            <a:ext cx="6708165" cy="2676098"/>
          </a:xfrm>
          <a:prstGeom prst="rect">
            <a:avLst/>
          </a:prstGeom>
        </p:spPr>
      </p:pic>
      <p:sp>
        <p:nvSpPr>
          <p:cNvPr id="7" name="TextBox 6">
            <a:extLst>
              <a:ext uri="{FF2B5EF4-FFF2-40B4-BE49-F238E27FC236}">
                <a16:creationId xmlns:a16="http://schemas.microsoft.com/office/drawing/2014/main" id="{F12974B3-83B0-4813-8486-A91A387473D3}"/>
              </a:ext>
            </a:extLst>
          </p:cNvPr>
          <p:cNvSpPr txBox="1"/>
          <p:nvPr/>
        </p:nvSpPr>
        <p:spPr>
          <a:xfrm>
            <a:off x="5178922" y="823519"/>
            <a:ext cx="1861407" cy="369332"/>
          </a:xfrm>
          <a:prstGeom prst="rect">
            <a:avLst/>
          </a:prstGeom>
          <a:noFill/>
        </p:spPr>
        <p:txBody>
          <a:bodyPr wrap="none" rtlCol="0">
            <a:spAutoFit/>
          </a:bodyPr>
          <a:lstStyle/>
          <a:p>
            <a:r>
              <a:rPr lang="en-US" b="1" u="sng" dirty="0"/>
              <a:t>Backend Sprint</a:t>
            </a:r>
            <a:endParaRPr lang="en-GB" b="1" u="sng" dirty="0"/>
          </a:p>
        </p:txBody>
      </p:sp>
      <p:sp>
        <p:nvSpPr>
          <p:cNvPr id="9" name="TextBox 8">
            <a:extLst>
              <a:ext uri="{FF2B5EF4-FFF2-40B4-BE49-F238E27FC236}">
                <a16:creationId xmlns:a16="http://schemas.microsoft.com/office/drawing/2014/main" id="{A316CBE9-5FA7-4001-8920-56C3CB186B97}"/>
              </a:ext>
            </a:extLst>
          </p:cNvPr>
          <p:cNvSpPr txBox="1"/>
          <p:nvPr/>
        </p:nvSpPr>
        <p:spPr>
          <a:xfrm>
            <a:off x="5178922" y="3889381"/>
            <a:ext cx="1834156" cy="369332"/>
          </a:xfrm>
          <a:prstGeom prst="rect">
            <a:avLst/>
          </a:prstGeom>
          <a:noFill/>
        </p:spPr>
        <p:txBody>
          <a:bodyPr wrap="none" rtlCol="0">
            <a:spAutoFit/>
          </a:bodyPr>
          <a:lstStyle/>
          <a:p>
            <a:r>
              <a:rPr lang="en-US" b="1" u="sng" dirty="0"/>
              <a:t>Frontend Sprint</a:t>
            </a:r>
            <a:endParaRPr lang="en-GB" b="1" u="sng" dirty="0"/>
          </a:p>
        </p:txBody>
      </p:sp>
      <p:pic>
        <p:nvPicPr>
          <p:cNvPr id="10" name="Picture 9">
            <a:extLst>
              <a:ext uri="{FF2B5EF4-FFF2-40B4-BE49-F238E27FC236}">
                <a16:creationId xmlns:a16="http://schemas.microsoft.com/office/drawing/2014/main" id="{9F496E9E-74C7-4914-86EE-A65D35BDAE25}"/>
              </a:ext>
            </a:extLst>
          </p:cNvPr>
          <p:cNvPicPr>
            <a:picLocks noChangeAspect="1"/>
          </p:cNvPicPr>
          <p:nvPr/>
        </p:nvPicPr>
        <p:blipFill>
          <a:blip r:embed="rId4"/>
          <a:stretch>
            <a:fillRect/>
          </a:stretch>
        </p:blipFill>
        <p:spPr>
          <a:xfrm>
            <a:off x="5085250" y="4278511"/>
            <a:ext cx="6625604" cy="2105443"/>
          </a:xfrm>
          <a:prstGeom prst="rect">
            <a:avLst/>
          </a:prstGeom>
        </p:spPr>
      </p:pic>
    </p:spTree>
    <p:extLst>
      <p:ext uri="{BB962C8B-B14F-4D97-AF65-F5344CB8AC3E}">
        <p14:creationId xmlns:p14="http://schemas.microsoft.com/office/powerpoint/2010/main" val="3654792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30B30-222B-4708-840D-A4A712780854}"/>
              </a:ext>
            </a:extLst>
          </p:cNvPr>
          <p:cNvSpPr>
            <a:spLocks noGrp="1"/>
          </p:cNvSpPr>
          <p:nvPr>
            <p:ph type="title"/>
          </p:nvPr>
        </p:nvSpPr>
        <p:spPr/>
        <p:txBody>
          <a:bodyPr/>
          <a:lstStyle/>
          <a:p>
            <a:r>
              <a:rPr lang="en-US" dirty="0"/>
              <a:t>Testing</a:t>
            </a:r>
            <a:endParaRPr lang="en-GB" dirty="0"/>
          </a:p>
        </p:txBody>
      </p:sp>
      <p:pic>
        <p:nvPicPr>
          <p:cNvPr id="5" name="Picture 4">
            <a:extLst>
              <a:ext uri="{FF2B5EF4-FFF2-40B4-BE49-F238E27FC236}">
                <a16:creationId xmlns:a16="http://schemas.microsoft.com/office/drawing/2014/main" id="{22A87A56-328C-4451-AFA3-389B8F48016F}"/>
              </a:ext>
            </a:extLst>
          </p:cNvPr>
          <p:cNvPicPr>
            <a:picLocks noChangeAspect="1"/>
          </p:cNvPicPr>
          <p:nvPr/>
        </p:nvPicPr>
        <p:blipFill rotWithShape="1">
          <a:blip r:embed="rId2"/>
          <a:srcRect r="52884" b="64521"/>
          <a:stretch/>
        </p:blipFill>
        <p:spPr>
          <a:xfrm>
            <a:off x="773722" y="2513490"/>
            <a:ext cx="9924779" cy="915510"/>
          </a:xfrm>
          <a:prstGeom prst="rect">
            <a:avLst/>
          </a:prstGeom>
        </p:spPr>
      </p:pic>
      <p:sp>
        <p:nvSpPr>
          <p:cNvPr id="6" name="TextBox 5">
            <a:extLst>
              <a:ext uri="{FF2B5EF4-FFF2-40B4-BE49-F238E27FC236}">
                <a16:creationId xmlns:a16="http://schemas.microsoft.com/office/drawing/2014/main" id="{C3469C93-7EBA-4F39-8EC9-99449C37896F}"/>
              </a:ext>
            </a:extLst>
          </p:cNvPr>
          <p:cNvSpPr txBox="1"/>
          <p:nvPr/>
        </p:nvSpPr>
        <p:spPr>
          <a:xfrm>
            <a:off x="773722" y="3525622"/>
            <a:ext cx="6118983" cy="369332"/>
          </a:xfrm>
          <a:prstGeom prst="rect">
            <a:avLst/>
          </a:prstGeom>
          <a:noFill/>
        </p:spPr>
        <p:txBody>
          <a:bodyPr wrap="none" rtlCol="0">
            <a:spAutoFit/>
          </a:bodyPr>
          <a:lstStyle/>
          <a:p>
            <a:r>
              <a:rPr lang="en-US" dirty="0"/>
              <a:t>As you can see, I tested for 84.6% of the total project.</a:t>
            </a:r>
            <a:endParaRPr lang="en-GB" dirty="0"/>
          </a:p>
        </p:txBody>
      </p:sp>
      <p:pic>
        <p:nvPicPr>
          <p:cNvPr id="8" name="Picture 7">
            <a:extLst>
              <a:ext uri="{FF2B5EF4-FFF2-40B4-BE49-F238E27FC236}">
                <a16:creationId xmlns:a16="http://schemas.microsoft.com/office/drawing/2014/main" id="{27753C56-1947-4815-AD9F-14675FDB00C0}"/>
              </a:ext>
            </a:extLst>
          </p:cNvPr>
          <p:cNvPicPr>
            <a:picLocks noChangeAspect="1"/>
          </p:cNvPicPr>
          <p:nvPr/>
        </p:nvPicPr>
        <p:blipFill rotWithShape="1">
          <a:blip r:embed="rId3"/>
          <a:srcRect r="51731"/>
          <a:stretch/>
        </p:blipFill>
        <p:spPr>
          <a:xfrm>
            <a:off x="773722" y="3997372"/>
            <a:ext cx="7172664" cy="2450320"/>
          </a:xfrm>
          <a:prstGeom prst="rect">
            <a:avLst/>
          </a:prstGeom>
        </p:spPr>
      </p:pic>
      <p:sp>
        <p:nvSpPr>
          <p:cNvPr id="9" name="TextBox 8">
            <a:extLst>
              <a:ext uri="{FF2B5EF4-FFF2-40B4-BE49-F238E27FC236}">
                <a16:creationId xmlns:a16="http://schemas.microsoft.com/office/drawing/2014/main" id="{90CED4B1-3031-4D4E-8F4C-6D652048C66B}"/>
              </a:ext>
            </a:extLst>
          </p:cNvPr>
          <p:cNvSpPr txBox="1"/>
          <p:nvPr/>
        </p:nvSpPr>
        <p:spPr>
          <a:xfrm>
            <a:off x="8146182" y="4345369"/>
            <a:ext cx="3540370" cy="2031325"/>
          </a:xfrm>
          <a:prstGeom prst="rect">
            <a:avLst/>
          </a:prstGeom>
          <a:noFill/>
        </p:spPr>
        <p:txBody>
          <a:bodyPr wrap="square" rtlCol="0">
            <a:spAutoFit/>
          </a:bodyPr>
          <a:lstStyle/>
          <a:p>
            <a:r>
              <a:rPr lang="en-US" dirty="0"/>
              <a:t>Testing 100% of the Config and Controller class, as well  testing 97.4% of the Service class; making use of a combination of Unit and Integration testing to reach these numbers. </a:t>
            </a:r>
            <a:endParaRPr lang="en-GB" dirty="0"/>
          </a:p>
        </p:txBody>
      </p:sp>
    </p:spTree>
    <p:extLst>
      <p:ext uri="{BB962C8B-B14F-4D97-AF65-F5344CB8AC3E}">
        <p14:creationId xmlns:p14="http://schemas.microsoft.com/office/powerpoint/2010/main" val="37466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31431-E933-486A-92FC-C1A14369ED7E}"/>
              </a:ext>
            </a:extLst>
          </p:cNvPr>
          <p:cNvSpPr>
            <a:spLocks noGrp="1"/>
          </p:cNvSpPr>
          <p:nvPr>
            <p:ph type="title"/>
          </p:nvPr>
        </p:nvSpPr>
        <p:spPr/>
        <p:txBody>
          <a:bodyPr/>
          <a:lstStyle/>
          <a:p>
            <a:r>
              <a:rPr lang="en-US" dirty="0"/>
              <a:t>Extent Reports Generated</a:t>
            </a:r>
            <a:endParaRPr lang="en-GB" dirty="0"/>
          </a:p>
        </p:txBody>
      </p:sp>
      <p:pic>
        <p:nvPicPr>
          <p:cNvPr id="5" name="Content Placeholder 4">
            <a:extLst>
              <a:ext uri="{FF2B5EF4-FFF2-40B4-BE49-F238E27FC236}">
                <a16:creationId xmlns:a16="http://schemas.microsoft.com/office/drawing/2014/main" id="{9697B7A2-528D-4D85-90D8-0633562D043E}"/>
              </a:ext>
            </a:extLst>
          </p:cNvPr>
          <p:cNvPicPr>
            <a:picLocks noGrp="1" noChangeAspect="1"/>
          </p:cNvPicPr>
          <p:nvPr>
            <p:ph idx="1"/>
          </p:nvPr>
        </p:nvPicPr>
        <p:blipFill>
          <a:blip r:embed="rId2"/>
          <a:stretch>
            <a:fillRect/>
          </a:stretch>
        </p:blipFill>
        <p:spPr>
          <a:xfrm>
            <a:off x="561074" y="2632154"/>
            <a:ext cx="5534926" cy="2770346"/>
          </a:xfrm>
        </p:spPr>
      </p:pic>
      <p:pic>
        <p:nvPicPr>
          <p:cNvPr id="7" name="Picture 6">
            <a:extLst>
              <a:ext uri="{FF2B5EF4-FFF2-40B4-BE49-F238E27FC236}">
                <a16:creationId xmlns:a16="http://schemas.microsoft.com/office/drawing/2014/main" id="{94DBF738-1094-4105-9BBD-CE78354BCA8B}"/>
              </a:ext>
            </a:extLst>
          </p:cNvPr>
          <p:cNvPicPr>
            <a:picLocks noChangeAspect="1"/>
          </p:cNvPicPr>
          <p:nvPr/>
        </p:nvPicPr>
        <p:blipFill>
          <a:blip r:embed="rId3"/>
          <a:stretch>
            <a:fillRect/>
          </a:stretch>
        </p:blipFill>
        <p:spPr>
          <a:xfrm>
            <a:off x="6239667" y="2632154"/>
            <a:ext cx="5391259" cy="2698437"/>
          </a:xfrm>
          <a:prstGeom prst="rect">
            <a:avLst/>
          </a:prstGeom>
        </p:spPr>
      </p:pic>
      <p:sp>
        <p:nvSpPr>
          <p:cNvPr id="8" name="TextBox 7">
            <a:extLst>
              <a:ext uri="{FF2B5EF4-FFF2-40B4-BE49-F238E27FC236}">
                <a16:creationId xmlns:a16="http://schemas.microsoft.com/office/drawing/2014/main" id="{C9AADB13-D80F-4554-8538-A74A9A9A7F35}"/>
              </a:ext>
            </a:extLst>
          </p:cNvPr>
          <p:cNvSpPr txBox="1"/>
          <p:nvPr/>
        </p:nvSpPr>
        <p:spPr>
          <a:xfrm>
            <a:off x="2472140" y="5813341"/>
            <a:ext cx="7247720" cy="923330"/>
          </a:xfrm>
          <a:prstGeom prst="rect">
            <a:avLst/>
          </a:prstGeom>
          <a:noFill/>
        </p:spPr>
        <p:txBody>
          <a:bodyPr wrap="square" rtlCol="0">
            <a:spAutoFit/>
          </a:bodyPr>
          <a:lstStyle/>
          <a:p>
            <a:r>
              <a:rPr lang="en-US" dirty="0"/>
              <a:t>These are the extent reports I generated for each entity to ensure that I was able to display the tests passing, making sure that on the user side the application was functional. </a:t>
            </a:r>
            <a:endParaRPr lang="en-GB" dirty="0"/>
          </a:p>
        </p:txBody>
      </p:sp>
    </p:spTree>
    <p:extLst>
      <p:ext uri="{BB962C8B-B14F-4D97-AF65-F5344CB8AC3E}">
        <p14:creationId xmlns:p14="http://schemas.microsoft.com/office/powerpoint/2010/main" val="607437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0EC85-2714-4A01-96C6-FFC477532B79}"/>
              </a:ext>
            </a:extLst>
          </p:cNvPr>
          <p:cNvSpPr>
            <a:spLocks noGrp="1"/>
          </p:cNvSpPr>
          <p:nvPr>
            <p:ph type="title"/>
          </p:nvPr>
        </p:nvSpPr>
        <p:spPr/>
        <p:txBody>
          <a:bodyPr/>
          <a:lstStyle/>
          <a:p>
            <a:r>
              <a:rPr lang="en-US" dirty="0"/>
              <a:t>Now for a Live Demonstration!</a:t>
            </a:r>
            <a:endParaRPr lang="en-GB" dirty="0"/>
          </a:p>
        </p:txBody>
      </p:sp>
    </p:spTree>
    <p:extLst>
      <p:ext uri="{BB962C8B-B14F-4D97-AF65-F5344CB8AC3E}">
        <p14:creationId xmlns:p14="http://schemas.microsoft.com/office/powerpoint/2010/main" val="3476536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4A776-F469-49D9-992A-11760A3571B1}"/>
              </a:ext>
            </a:extLst>
          </p:cNvPr>
          <p:cNvSpPr>
            <a:spLocks noGrp="1"/>
          </p:cNvSpPr>
          <p:nvPr>
            <p:ph type="title"/>
          </p:nvPr>
        </p:nvSpPr>
        <p:spPr/>
        <p:txBody>
          <a:bodyPr/>
          <a:lstStyle/>
          <a:p>
            <a:r>
              <a:rPr lang="en-US" dirty="0"/>
              <a:t>Sprint Review</a:t>
            </a:r>
            <a:endParaRPr lang="en-GB" dirty="0"/>
          </a:p>
        </p:txBody>
      </p:sp>
      <p:sp>
        <p:nvSpPr>
          <p:cNvPr id="3" name="Content Placeholder 2">
            <a:extLst>
              <a:ext uri="{FF2B5EF4-FFF2-40B4-BE49-F238E27FC236}">
                <a16:creationId xmlns:a16="http://schemas.microsoft.com/office/drawing/2014/main" id="{077F1CD3-4CA8-4965-8C21-871F53259376}"/>
              </a:ext>
            </a:extLst>
          </p:cNvPr>
          <p:cNvSpPr>
            <a:spLocks noGrp="1"/>
          </p:cNvSpPr>
          <p:nvPr>
            <p:ph idx="1"/>
          </p:nvPr>
        </p:nvSpPr>
        <p:spPr/>
        <p:txBody>
          <a:bodyPr/>
          <a:lstStyle/>
          <a:p>
            <a:r>
              <a:rPr lang="en-US" dirty="0"/>
              <a:t>What did I complete?</a:t>
            </a:r>
          </a:p>
          <a:p>
            <a:pPr marL="0" indent="0">
              <a:buNone/>
            </a:pPr>
            <a:r>
              <a:rPr lang="en-US" dirty="0"/>
              <a:t>I was able to complete the full CRUD functionality for both entities, with a  backend developed in Spring written in Java, a working front end HTML page styled using CSS and Bootstrap, with buttons and modals interacted with using JavaScript.</a:t>
            </a:r>
          </a:p>
          <a:p>
            <a:r>
              <a:rPr lang="en-US" dirty="0"/>
              <a:t>What got left behind?</a:t>
            </a:r>
          </a:p>
          <a:p>
            <a:pPr marL="0" indent="0">
              <a:buNone/>
            </a:pPr>
            <a:r>
              <a:rPr lang="en-US" dirty="0"/>
              <a:t>I wanted to take some more time to perhaps create some custom methods for the project, as well as some more time on styling the HTML page to make the user interface even nicer for the user.</a:t>
            </a:r>
            <a:endParaRPr lang="en-GB" dirty="0"/>
          </a:p>
        </p:txBody>
      </p:sp>
    </p:spTree>
    <p:extLst>
      <p:ext uri="{BB962C8B-B14F-4D97-AF65-F5344CB8AC3E}">
        <p14:creationId xmlns:p14="http://schemas.microsoft.com/office/powerpoint/2010/main" val="1845744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E3BA5-EA39-48ED-A50C-9C4E5126A704}"/>
              </a:ext>
            </a:extLst>
          </p:cNvPr>
          <p:cNvSpPr>
            <a:spLocks noGrp="1"/>
          </p:cNvSpPr>
          <p:nvPr>
            <p:ph type="title"/>
          </p:nvPr>
        </p:nvSpPr>
        <p:spPr/>
        <p:txBody>
          <a:bodyPr/>
          <a:lstStyle/>
          <a:p>
            <a:r>
              <a:rPr lang="en-US" dirty="0"/>
              <a:t>Sprint Retrospective</a:t>
            </a:r>
            <a:br>
              <a:rPr lang="en-US" dirty="0"/>
            </a:br>
            <a:endParaRPr lang="en-GB" dirty="0"/>
          </a:p>
        </p:txBody>
      </p:sp>
      <p:sp>
        <p:nvSpPr>
          <p:cNvPr id="3" name="Content Placeholder 2">
            <a:extLst>
              <a:ext uri="{FF2B5EF4-FFF2-40B4-BE49-F238E27FC236}">
                <a16:creationId xmlns:a16="http://schemas.microsoft.com/office/drawing/2014/main" id="{46B05C24-9C65-4477-B224-C6B9521609A4}"/>
              </a:ext>
            </a:extLst>
          </p:cNvPr>
          <p:cNvSpPr>
            <a:spLocks noGrp="1"/>
          </p:cNvSpPr>
          <p:nvPr>
            <p:ph idx="1"/>
          </p:nvPr>
        </p:nvSpPr>
        <p:spPr>
          <a:xfrm>
            <a:off x="679938" y="2438399"/>
            <a:ext cx="10738339" cy="4056185"/>
          </a:xfrm>
        </p:spPr>
        <p:txBody>
          <a:bodyPr>
            <a:normAutofit/>
          </a:bodyPr>
          <a:lstStyle/>
          <a:p>
            <a:r>
              <a:rPr lang="en-US" dirty="0"/>
              <a:t>What went well?</a:t>
            </a:r>
          </a:p>
          <a:p>
            <a:pPr marL="0" indent="0">
              <a:buNone/>
            </a:pPr>
            <a:r>
              <a:rPr lang="en-US" dirty="0"/>
              <a:t>Building the backend and the framework for the HTML page went well, I found a systematic way of approaching both of those tasks and ensuring that I made a robust backend that could deal with the CRUD functionality of both entities as well as the creation of all the buttons and modals that would interact with the fetch methods I created using JavaScript.</a:t>
            </a:r>
          </a:p>
          <a:p>
            <a:r>
              <a:rPr lang="en-US" dirty="0"/>
              <a:t>What got left behind?</a:t>
            </a:r>
          </a:p>
          <a:p>
            <a:pPr marL="0" indent="0">
              <a:buNone/>
            </a:pPr>
            <a:r>
              <a:rPr lang="en-US" dirty="0"/>
              <a:t>At the end of the project, I figured out how to get text to display to the HTML page and was able to implement it for the create function for the first entity. With more time, I would like to implement it for the rest of the functionality in both entities. I would have also liked to implement the page object model in my acceptance testing as I had written my acceptance tests and gotten them running and passing, but not structured it in the way I would have wished to.</a:t>
            </a:r>
            <a:endParaRPr lang="en-GB" dirty="0"/>
          </a:p>
        </p:txBody>
      </p:sp>
    </p:spTree>
    <p:extLst>
      <p:ext uri="{BB962C8B-B14F-4D97-AF65-F5344CB8AC3E}">
        <p14:creationId xmlns:p14="http://schemas.microsoft.com/office/powerpoint/2010/main" val="2842216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3EF43-71C1-428B-BDBF-F718F4B0CA49}"/>
              </a:ext>
            </a:extLst>
          </p:cNvPr>
          <p:cNvSpPr>
            <a:spLocks noGrp="1"/>
          </p:cNvSpPr>
          <p:nvPr>
            <p:ph type="title"/>
          </p:nvPr>
        </p:nvSpPr>
        <p:spPr/>
        <p:txBody>
          <a:bodyPr/>
          <a:lstStyle/>
          <a:p>
            <a:r>
              <a:rPr lang="en-US" dirty="0"/>
              <a:t>Conclusion</a:t>
            </a:r>
            <a:endParaRPr lang="en-GB" dirty="0"/>
          </a:p>
        </p:txBody>
      </p:sp>
      <p:sp>
        <p:nvSpPr>
          <p:cNvPr id="3" name="Content Placeholder 2">
            <a:extLst>
              <a:ext uri="{FF2B5EF4-FFF2-40B4-BE49-F238E27FC236}">
                <a16:creationId xmlns:a16="http://schemas.microsoft.com/office/drawing/2014/main" id="{C2E495C5-5B1C-4B40-B9BA-3D6D799B157E}"/>
              </a:ext>
            </a:extLst>
          </p:cNvPr>
          <p:cNvSpPr>
            <a:spLocks noGrp="1"/>
          </p:cNvSpPr>
          <p:nvPr>
            <p:ph idx="1"/>
          </p:nvPr>
        </p:nvSpPr>
        <p:spPr/>
        <p:txBody>
          <a:bodyPr>
            <a:normAutofit fontScale="92500"/>
          </a:bodyPr>
          <a:lstStyle/>
          <a:p>
            <a:r>
              <a:rPr lang="en-US" dirty="0"/>
              <a:t>Reflections on the project, future steps, any other relevant info:</a:t>
            </a:r>
          </a:p>
          <a:p>
            <a:pPr marL="0" indent="0">
              <a:buNone/>
            </a:pPr>
            <a:r>
              <a:rPr lang="en-US" dirty="0"/>
              <a:t>I would like to mention at the end of this project that I felt I was able to manage my time effectively but you should still allocate more time to debugging around the end of the project time for any new features that you may have introduced later on in the project; as I didn’t have enough time for it and wished I could have added on a little bit more on the front-end. I tried to rush more debugging at the end and felt a bit burned out at the end of the project, but I was able to complete it and feel proud of what I had accomplished.</a:t>
            </a:r>
          </a:p>
          <a:p>
            <a:pPr marL="0" indent="0">
              <a:buNone/>
            </a:pPr>
            <a:r>
              <a:rPr lang="en-US" dirty="0"/>
              <a:t>Other points:</a:t>
            </a:r>
          </a:p>
          <a:p>
            <a:pPr marL="0" indent="0">
              <a:buNone/>
            </a:pPr>
            <a:r>
              <a:rPr lang="en-US" dirty="0"/>
              <a:t>- Take more time with the setup of the sprints in order to have a less skewed burndown chart.</a:t>
            </a:r>
            <a:endParaRPr lang="en-GB" dirty="0"/>
          </a:p>
        </p:txBody>
      </p:sp>
    </p:spTree>
    <p:extLst>
      <p:ext uri="{BB962C8B-B14F-4D97-AF65-F5344CB8AC3E}">
        <p14:creationId xmlns:p14="http://schemas.microsoft.com/office/powerpoint/2010/main" val="885496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23004-6BCF-45BE-B2D8-B61473A07F27}"/>
              </a:ext>
            </a:extLst>
          </p:cNvPr>
          <p:cNvSpPr>
            <a:spLocks noGrp="1"/>
          </p:cNvSpPr>
          <p:nvPr>
            <p:ph type="title"/>
          </p:nvPr>
        </p:nvSpPr>
        <p:spPr/>
        <p:txBody>
          <a:bodyPr/>
          <a:lstStyle/>
          <a:p>
            <a:r>
              <a:rPr lang="en-US" dirty="0"/>
              <a:t>Thank you for your time!</a:t>
            </a:r>
            <a:endParaRPr lang="en-GB" dirty="0"/>
          </a:p>
        </p:txBody>
      </p:sp>
      <p:sp>
        <p:nvSpPr>
          <p:cNvPr id="3" name="Text Placeholder 2">
            <a:extLst>
              <a:ext uri="{FF2B5EF4-FFF2-40B4-BE49-F238E27FC236}">
                <a16:creationId xmlns:a16="http://schemas.microsoft.com/office/drawing/2014/main" id="{6452EECA-03F8-4844-ACA4-CC1ADA97A6DE}"/>
              </a:ext>
            </a:extLst>
          </p:cNvPr>
          <p:cNvSpPr>
            <a:spLocks noGrp="1"/>
          </p:cNvSpPr>
          <p:nvPr>
            <p:ph type="body" idx="1"/>
          </p:nvPr>
        </p:nvSpPr>
        <p:spPr/>
        <p:txBody>
          <a:bodyPr/>
          <a:lstStyle/>
          <a:p>
            <a:r>
              <a:rPr lang="en-US" dirty="0"/>
              <a:t>Any questions?</a:t>
            </a:r>
            <a:endParaRPr lang="en-GB" dirty="0"/>
          </a:p>
        </p:txBody>
      </p:sp>
    </p:spTree>
    <p:extLst>
      <p:ext uri="{BB962C8B-B14F-4D97-AF65-F5344CB8AC3E}">
        <p14:creationId xmlns:p14="http://schemas.microsoft.com/office/powerpoint/2010/main" val="20213843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1106</TotalTime>
  <Words>1535</Words>
  <Application>Microsoft Office PowerPoint</Application>
  <PresentationFormat>Widescreen</PresentationFormat>
  <Paragraphs>75</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Century Gothic</vt:lpstr>
      <vt:lpstr>Wingdings 3</vt:lpstr>
      <vt:lpstr>Ion Boardroom</vt:lpstr>
      <vt:lpstr>To Do List Application </vt:lpstr>
      <vt:lpstr>Introduction</vt:lpstr>
      <vt:lpstr>Concept</vt:lpstr>
      <vt:lpstr>Sprint Plan</vt:lpstr>
      <vt:lpstr>My Entity Relationship Diagram</vt:lpstr>
      <vt:lpstr>Consultant Journey</vt:lpstr>
      <vt:lpstr>Continuous Integration</vt:lpstr>
      <vt:lpstr>My Project Roadmap</vt:lpstr>
      <vt:lpstr>Interacting with the API using Postman</vt:lpstr>
      <vt:lpstr>My Burndown Chart</vt:lpstr>
      <vt:lpstr>Testing</vt:lpstr>
      <vt:lpstr>Extent Reports Generated</vt:lpstr>
      <vt:lpstr>Now for a Live Demonstration!</vt:lpstr>
      <vt:lpstr>Sprint Review</vt:lpstr>
      <vt:lpstr>Sprint Retrospective </vt:lpstr>
      <vt:lpstr>Conclusion</vt:lpstr>
      <vt:lpstr>Thank you for your 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 Do List Application</dc:title>
  <dc:creator>Peter Vaughan-Williams</dc:creator>
  <cp:lastModifiedBy>Peter Vaughan-Williams</cp:lastModifiedBy>
  <cp:revision>14</cp:revision>
  <dcterms:created xsi:type="dcterms:W3CDTF">2021-02-21T16:37:42Z</dcterms:created>
  <dcterms:modified xsi:type="dcterms:W3CDTF">2021-02-22T11:04:30Z</dcterms:modified>
</cp:coreProperties>
</file>